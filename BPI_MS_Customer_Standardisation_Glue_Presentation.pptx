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Data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Standardisation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78892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Glue / PySpark stage for cleaner matching, reporting, and manual review.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E6F0ED"/>
          </a:solidFill>
          <a:ln w="12700">
            <a:solidFill>
              <a:srgbClr val="E6F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114300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51460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388620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</a:rPr>
              <a:t>RAW  -  messy source fields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66760" y="2788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</a:rPr>
              <a:t>CLEAN  -  standardized values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6760" y="4160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</a:rPr>
              <a:t>FLAGS  -  issues for reporting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editable deck - each object can be changed in PowerPoint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Glue job does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577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converts inconsistent customer fields into standardized values, while keeping the original raw fields for traceability.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23317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23317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33472"/>
            <a:ext cx="2697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Keep RAW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silent overwrite. The source value remains available for audit and troubleshooting.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2633472"/>
            <a:ext cx="2697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Create *_clean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format used for matching, reporting, and validation.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75320" y="2633472"/>
            <a:ext cx="2697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Create *_dq_flag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971800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are labeled instead of hidden, so the team can report and review them.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4709160"/>
            <a:ext cx="9601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idea: clean what is safe to clean, flag what needs attention.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it sits in the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87168" y="2880360"/>
            <a:ext cx="758952" cy="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047488" y="2880360"/>
            <a:ext cx="758952" cy="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07808" y="2880360"/>
            <a:ext cx="758952" cy="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14884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31343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Raw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" y="265176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 input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extraction_date partition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214884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E6F0ED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31343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Glue PySpark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65176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fields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clean + DQ flags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214884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231343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Clean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1032" y="265176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 output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partitioned by extraction_date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66760" y="214884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231343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Downstream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31352" y="265176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Athena checks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/ QuickSight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9784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control: extraction_date comes from the input path, not current_date(). Re-running an older partition keeps the correct business date.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output pattern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" y="1472184"/>
            <a:ext cx="1993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field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2935224" y="1472184"/>
            <a:ext cx="28163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fields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861304" y="1472184"/>
            <a:ext cx="55138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explain it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77240" y="2231136"/>
            <a:ext cx="1065276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304288"/>
            <a:ext cx="1993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35224" y="2304288"/>
            <a:ext cx="28163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surname_clean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surname_suffix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surname_dq_flag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61304" y="2304288"/>
            <a:ext cx="55138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value, extracted suffix, and issue label.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063240"/>
            <a:ext cx="1065276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136392"/>
            <a:ext cx="1993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35224" y="3136392"/>
            <a:ext cx="28163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dob_clean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dob_dq_flag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61304" y="3136392"/>
            <a:ext cx="55138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Parsed date as YYYYMMDD. Bad dates become NULL and are flagged.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895344"/>
            <a:ext cx="1065276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968496"/>
            <a:ext cx="1993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35224" y="3968496"/>
            <a:ext cx="28163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mobileno_clean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mobileno_valid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mobileno_dq_flag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61304" y="3968496"/>
            <a:ext cx="55138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PH mobiles become +639XXXXXXXXX.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727448"/>
            <a:ext cx="1065276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4800600"/>
            <a:ext cx="1993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homeno / officeno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35224" y="4800600"/>
            <a:ext cx="28163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*_clean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*_type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*_dq_flag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61304" y="4800600"/>
            <a:ext cx="55138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MOBILE or TELEPHONE depending on the value.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1417320"/>
            <a:ext cx="10652760" cy="0"/>
          </a:xfrm>
          <a:prstGeom prst="line">
            <a:avLst/>
          </a:prstGeom>
          <a:noFill/>
          <a:ln w="11430">
            <a:solidFill>
              <a:srgbClr val="2E7D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77840"/>
            <a:ext cx="10652760" cy="0"/>
          </a:xfrm>
          <a:prstGeom prst="line">
            <a:avLst/>
          </a:prstGeom>
          <a:noFill/>
          <a:ln w="7620">
            <a:solidFill>
              <a:srgbClr val="D8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matters: matching can use the clean fields, while QA can count and inspect the flags.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before and after values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9224" y="1353312"/>
            <a:ext cx="12161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1975104" y="1353312"/>
            <a:ext cx="21305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4215384" y="1353312"/>
            <a:ext cx="240487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/ Clean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6729984" y="1353312"/>
            <a:ext cx="48280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 flag / type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94360" y="1868805"/>
            <a:ext cx="1101852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941957"/>
            <a:ext cx="12161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75104" y="1941957"/>
            <a:ext cx="21305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Peña Jr. 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15384" y="1941957"/>
            <a:ext cx="240487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 | suffix: JR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29984" y="1941957"/>
            <a:ext cx="48280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LEADING_SPACE, TRAILING_SPACE, SUFFIX_EXTRACTED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457450"/>
            <a:ext cx="1101852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530602"/>
            <a:ext cx="12161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givenname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75104" y="2530602"/>
            <a:ext cx="21305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Juan   Carlos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15384" y="2530602"/>
            <a:ext cx="240487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JUAN CARLOS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29984" y="2530602"/>
            <a:ext cx="48280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DOUBLE_SPACE_BETWEEN_WORDS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046095"/>
            <a:ext cx="1101852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119247"/>
            <a:ext cx="12161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75104" y="3119247"/>
            <a:ext cx="21305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19810106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15384" y="3119247"/>
            <a:ext cx="240487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19810106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29984" y="3119247"/>
            <a:ext cx="48280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634740"/>
            <a:ext cx="1101852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707892"/>
            <a:ext cx="12161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75104" y="3707892"/>
            <a:ext cx="21305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00:00.0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15384" y="3707892"/>
            <a:ext cx="240487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29984" y="3707892"/>
            <a:ext cx="48280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DOB_PLACEHOLDER_OR_SUSPECT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223385"/>
            <a:ext cx="1101852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4296537"/>
            <a:ext cx="12161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75104" y="4296537"/>
            <a:ext cx="21305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Test@Email.COM 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15384" y="4296537"/>
            <a:ext cx="240487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test@email.com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29984" y="4296537"/>
            <a:ext cx="48280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4812030"/>
            <a:ext cx="1101852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4885182"/>
            <a:ext cx="12161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75104" y="4885182"/>
            <a:ext cx="21305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0917-123-4567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15384" y="4885182"/>
            <a:ext cx="240487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+639171234567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29984" y="4885182"/>
            <a:ext cx="48280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" y="5400675"/>
            <a:ext cx="1101852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5473827"/>
            <a:ext cx="12161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975104" y="5473827"/>
            <a:ext cx="213055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15384" y="5473827"/>
            <a:ext cx="240487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0612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29984" y="5473827"/>
            <a:ext cx="4828032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4360" y="1298448"/>
            <a:ext cx="11018520" cy="0"/>
          </a:xfrm>
          <a:prstGeom prst="line">
            <a:avLst/>
          </a:prstGeom>
          <a:noFill/>
          <a:ln w="11430">
            <a:solidFill>
              <a:srgbClr val="2E7D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07608"/>
            <a:ext cx="11018520" cy="0"/>
          </a:xfrm>
          <a:prstGeom prst="line">
            <a:avLst/>
          </a:prstGeom>
          <a:noFill/>
          <a:ln w="7620">
            <a:solidFill>
              <a:srgbClr val="D8D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6144768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sample values for explaining the transformation logic; update with real SIT examples once available.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standardisation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5029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to surname and givenname: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512064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Trim leading/trailing spaces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Collapse double spaces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Uppercase names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Fold accents: PEÑA -&gt; PENA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Extract trailing suffix only: JR, SR, II, III, IV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81344" y="1609344"/>
            <a:ext cx="1399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7690104" y="1609344"/>
            <a:ext cx="13075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9107424" y="1609344"/>
            <a:ext cx="6217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Suffix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838944" y="1609344"/>
            <a:ext cx="14904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126480" y="2073402"/>
            <a:ext cx="52578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2146554"/>
            <a:ext cx="1399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  Cruz III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90104" y="2146554"/>
            <a:ext cx="13075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 CRUZ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07424" y="2146554"/>
            <a:ext cx="6217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838944" y="2146554"/>
            <a:ext cx="14904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SUFFIX_EXTRACTED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2610612"/>
            <a:ext cx="52578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2683764"/>
            <a:ext cx="1399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José Peña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90104" y="2683764"/>
            <a:ext cx="13075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JOSE PENA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07424" y="2683764"/>
            <a:ext cx="6217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838944" y="2683764"/>
            <a:ext cx="14904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3147822"/>
            <a:ext cx="52578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3220974"/>
            <a:ext cx="1399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Juan JR Santos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90104" y="3220974"/>
            <a:ext cx="13075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JUAN JR SANTOS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07424" y="3220974"/>
            <a:ext cx="6217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38944" y="3220974"/>
            <a:ext cx="14904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 / limitation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554480"/>
            <a:ext cx="5257800" cy="0"/>
          </a:xfrm>
          <a:prstGeom prst="line">
            <a:avLst/>
          </a:prstGeom>
          <a:noFill/>
          <a:ln w="11430">
            <a:solidFill>
              <a:srgbClr val="2E7D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703320"/>
            <a:ext cx="5257800" cy="0"/>
          </a:xfrm>
          <a:prstGeom prst="line">
            <a:avLst/>
          </a:prstGeom>
          <a:noFill/>
          <a:ln w="7620">
            <a:solidFill>
              <a:srgbClr val="D8D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480560"/>
            <a:ext cx="9966960" cy="777240"/>
          </a:xfrm>
          <a:prstGeom prst="roundRect">
            <a:avLst>
              <a:gd name="adj" fmla="val 14118"/>
            </a:avLst>
          </a:prstGeom>
          <a:solidFill>
            <a:srgbClr val="E6F0ED"/>
          </a:solidFill>
          <a:ln w="8890">
            <a:solidFill>
              <a:srgbClr val="E6F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700016"/>
            <a:ext cx="9509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SIT decision: current suffix extraction is trailing-only. Mid-name suffixes can be handled later with token-based extraction if profiling shows enough cases.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 of birth standardisation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 is parsed from common formats into one clean format: YYYYMMDD.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23544" y="1883664"/>
            <a:ext cx="149047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DOB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523744" y="1883664"/>
            <a:ext cx="135331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986784" y="1883664"/>
            <a:ext cx="231343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68680" y="2300369"/>
            <a:ext cx="54864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373521"/>
            <a:ext cx="149047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1981-01-06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23744" y="2373521"/>
            <a:ext cx="135331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19810106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86784" y="2373521"/>
            <a:ext cx="231343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2790226"/>
            <a:ext cx="54864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863378"/>
            <a:ext cx="149047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19810106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23744" y="2863378"/>
            <a:ext cx="135331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19810106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86784" y="2863378"/>
            <a:ext cx="231343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280083"/>
            <a:ext cx="54864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3353235"/>
            <a:ext cx="149047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01/06/1981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23744" y="3353235"/>
            <a:ext cx="135331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19810106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86784" y="3353235"/>
            <a:ext cx="231343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3769941"/>
            <a:ext cx="54864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3843093"/>
            <a:ext cx="149047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00:00.0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23744" y="3843093"/>
            <a:ext cx="135331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86784" y="3843093"/>
            <a:ext cx="231343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DOB_PLACEHOLDER_OR_SUSPECT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4259798"/>
            <a:ext cx="54864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4332950"/>
            <a:ext cx="149047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1899-01-01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23744" y="4332950"/>
            <a:ext cx="135331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86784" y="4332950"/>
            <a:ext cx="231343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DOB_SUSPECT_TOO_OLD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4749655"/>
            <a:ext cx="548640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4822807"/>
            <a:ext cx="149047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2099-01-01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23744" y="4822807"/>
            <a:ext cx="135331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986784" y="4822807"/>
            <a:ext cx="2313432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DOB_FUTURE_DATE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1828800"/>
            <a:ext cx="5486400" cy="0"/>
          </a:xfrm>
          <a:prstGeom prst="line">
            <a:avLst/>
          </a:prstGeom>
          <a:noFill/>
          <a:ln w="11430">
            <a:solidFill>
              <a:srgbClr val="2E7D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5257800"/>
            <a:ext cx="5486400" cy="0"/>
          </a:xfrm>
          <a:prstGeom prst="line">
            <a:avLst/>
          </a:prstGeom>
          <a:noFill/>
          <a:ln w="7620">
            <a:solidFill>
              <a:srgbClr val="D8D3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1920240"/>
            <a:ext cx="3840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2212848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timeParserPolicy matters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22376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CORRECTED, bad DOB values return NULL instead of killing the whole Glue job.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49440" y="3703320"/>
            <a:ext cx="3840480" cy="960120"/>
          </a:xfrm>
          <a:prstGeom prst="roundRect">
            <a:avLst>
              <a:gd name="adj" fmla="val 11429"/>
            </a:avLst>
          </a:prstGeom>
          <a:solidFill>
            <a:srgbClr val="E6F0ED"/>
          </a:solidFill>
          <a:ln w="8890">
            <a:solidFill>
              <a:srgbClr val="E6F0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3913632"/>
            <a:ext cx="3291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Talking point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23760" y="4206240"/>
            <a:ext cx="3200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DOBs are not guessed. They are nulled and flagged for reporting.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 field standardisation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95097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Email, mobile, home number, and office number are cleaned differently because they serve different matching purposes.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32104" y="192938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2112264" y="1929384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4261104" y="192938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455664" y="1929384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/ Flag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77240" y="2359152"/>
            <a:ext cx="106984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4323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12264" y="2432304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USER@MAIL.COM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61104" y="243230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user@mail.com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55664" y="2432304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862072"/>
            <a:ext cx="106984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93522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12264" y="2935224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9171234567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61104" y="293522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+639171234567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55664" y="2935224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3364992"/>
            <a:ext cx="106984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343814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12264" y="3438144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61104" y="34381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55664" y="3438144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MOBILE_INVALID_FORMAT_OR_LENGTH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3867912"/>
            <a:ext cx="106984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394106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homeno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12264" y="3941064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0917 123 4567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61104" y="394106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+639171234567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55664" y="3941064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4370832"/>
            <a:ext cx="106984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444398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officeno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12264" y="4443984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(02)81234567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61104" y="444398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0281234567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55664" y="4443984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TELEPHONE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4873752"/>
            <a:ext cx="106984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" y="49469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12264" y="4946904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61104" y="494690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55664" y="4946904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" y="1874520"/>
            <a:ext cx="10698480" cy="0"/>
          </a:xfrm>
          <a:prstGeom prst="line">
            <a:avLst/>
          </a:prstGeom>
          <a:noFill/>
          <a:ln w="11430">
            <a:solidFill>
              <a:srgbClr val="2E7D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5394960"/>
            <a:ext cx="10698480" cy="0"/>
          </a:xfrm>
          <a:prstGeom prst="line">
            <a:avLst/>
          </a:prstGeom>
          <a:noFill/>
          <a:ln w="7620">
            <a:solidFill>
              <a:srgbClr val="D8D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715000"/>
            <a:ext cx="9692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explanation: a mobile number found in home/office is normalized as MOBILE so matching can compare it properly.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Address and postal standardisation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1907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42976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Trim spaces, collapse double spaces, uppercase, and fold accents. Address symbols like #, /, - and . are kept because they can carry meaning.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4480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2121408"/>
            <a:ext cx="39319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Digits only, then 4-digit validation. If enabled, short postal values are zero-padded, for example 612 -&gt; 0612.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52144" y="4123944"/>
            <a:ext cx="1353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2615184" y="4123944"/>
            <a:ext cx="2633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358384" y="4123944"/>
            <a:ext cx="2633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8101584" y="4123944"/>
            <a:ext cx="2907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1097280" y="4427982"/>
            <a:ext cx="996696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4501134"/>
            <a:ext cx="1353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15184" y="4501134"/>
            <a:ext cx="2633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Blk 1   Peña St.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58384" y="4501134"/>
            <a:ext cx="2633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BLK 1 PENA 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01584" y="4501134"/>
            <a:ext cx="2907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DOUBLE_SPACE_BETWEEN_WORDS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4805172"/>
            <a:ext cx="996696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878324"/>
            <a:ext cx="1353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15184" y="4878324"/>
            <a:ext cx="2633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58384" y="4878324"/>
            <a:ext cx="2633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01584" y="4878324"/>
            <a:ext cx="2907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97280" y="5182362"/>
            <a:ext cx="996696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" y="5255514"/>
            <a:ext cx="1353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15184" y="5255514"/>
            <a:ext cx="2633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58384" y="5255514"/>
            <a:ext cx="2633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01584" y="5255514"/>
            <a:ext cx="2907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POSTAL_INVALID_FORMAT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280" y="4069080"/>
            <a:ext cx="9966960" cy="0"/>
          </a:xfrm>
          <a:prstGeom prst="line">
            <a:avLst/>
          </a:prstGeom>
          <a:noFill/>
          <a:ln w="11430">
            <a:solidFill>
              <a:srgbClr val="2E7D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5577840"/>
            <a:ext cx="9966960" cy="0"/>
          </a:xfrm>
          <a:prstGeom prst="line">
            <a:avLst/>
          </a:prstGeom>
          <a:noFill/>
          <a:ln w="7620">
            <a:solidFill>
              <a:srgbClr val="D8D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and reporting output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9784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cleaning, the job prints counts so the team can see how many records were flagged per field.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23544" y="1929384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example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300984" y="1929384"/>
            <a:ext cx="31821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68680" y="2382012"/>
            <a:ext cx="56692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455164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surname_flagged_count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00984" y="2455164"/>
            <a:ext cx="31821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of records where surname_dq_flag is not OK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2907792"/>
            <a:ext cx="56692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2980944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dob_flagged_count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00984" y="2980944"/>
            <a:ext cx="31821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DOBs missing, invalid, future, or suspect too old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433572"/>
            <a:ext cx="56692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506724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email_flagged_count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00984" y="3506724"/>
            <a:ext cx="31821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Emails missing or invalid format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959352"/>
            <a:ext cx="56692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4032504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mobileno_flagged_count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00984" y="4032504"/>
            <a:ext cx="31821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Mobiles missing or invalid format / length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4485132"/>
            <a:ext cx="566928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4558284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postal_flagged_count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00984" y="4558284"/>
            <a:ext cx="31821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 values missing or not valid 4-digit codes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1874520"/>
            <a:ext cx="5669280" cy="0"/>
          </a:xfrm>
          <a:prstGeom prst="line">
            <a:avLst/>
          </a:prstGeom>
          <a:noFill/>
          <a:ln w="11430">
            <a:solidFill>
              <a:srgbClr val="2E7D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029200"/>
            <a:ext cx="5669280" cy="0"/>
          </a:xfrm>
          <a:prstGeom prst="line">
            <a:avLst/>
          </a:prstGeom>
          <a:noFill/>
          <a:ln w="7620">
            <a:solidFill>
              <a:srgbClr val="D8D3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9202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6F0ED"/>
          </a:solidFill>
          <a:ln w="8890">
            <a:solidFill>
              <a:srgbClr val="E6F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221992"/>
            <a:ext cx="2971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this in team review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2633472"/>
            <a:ext cx="29260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Check total records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Compare flagged counts by field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Pull sample rows for investigation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Decide if SIT rules need tuning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controls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3017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417320"/>
            <a:ext cx="3017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417320"/>
            <a:ext cx="3017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8890">
            <a:solidFill>
              <a:srgbClr val="D8D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82496"/>
            <a:ext cx="2468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path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Passed as Glue parameter: INPUT_PATH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682496"/>
            <a:ext cx="2468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path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Passed as Glue parameter: OUTPUT_PATH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0" y="1682496"/>
            <a:ext cx="2468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overwrite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95360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Re-run overwrites only the target partition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values are centralized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096512"/>
            <a:ext cx="47548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Suffixes, regexes, placeholder values, postal zero-padding, and single-file output can be tuned in one place.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657600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 vs UAT reminder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29400" y="4096512"/>
            <a:ext cx="46634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SINGLE_OUTPUT_FILE is okay for SIT samples, but should be disabled for UAT / larger volumes.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 / PySpark standardisation stage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Items to align during SIT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BPI MS | Customer Deduplication &amp; Entity Resolution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40664" y="1472184"/>
            <a:ext cx="171907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area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2569464" y="1472184"/>
            <a:ext cx="373075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for the team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6409944" y="1472184"/>
            <a:ext cx="505663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default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85800" y="2122932"/>
            <a:ext cx="1083564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196084"/>
            <a:ext cx="171907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Suffix handling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9464" y="2196084"/>
            <a:ext cx="373075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we need to handle mid-name suffixes like JUAN JR SANTOS?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9944" y="2196084"/>
            <a:ext cx="505663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trailing-only first; upgrade if counts are material.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846832"/>
            <a:ext cx="1083564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919984"/>
            <a:ext cx="171907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 parsing order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9464" y="2919984"/>
            <a:ext cx="373075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source date style MM/DD or DD/MM?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9944" y="2919984"/>
            <a:ext cx="505663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using source profiling.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570732"/>
            <a:ext cx="1083564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643884"/>
            <a:ext cx="171907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 zero-padding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9464" y="3643884"/>
            <a:ext cx="373075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612 become 0612 for all sources?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9944" y="3643884"/>
            <a:ext cx="505663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if source storage dropped leading zero.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294632"/>
            <a:ext cx="1083564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4367784"/>
            <a:ext cx="171907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values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9464" y="4367784"/>
            <a:ext cx="373075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invalid clean values become NULL?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9944" y="4367784"/>
            <a:ext cx="505663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keep raw field and flag reason.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5018532"/>
            <a:ext cx="10835640" cy="0"/>
          </a:xfrm>
          <a:prstGeom prst="line">
            <a:avLst/>
          </a:prstGeom>
          <a:noFill/>
          <a:ln w="5715">
            <a:solidFill>
              <a:srgbClr val="D8D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5091684"/>
            <a:ext cx="171907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reporting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9464" y="5091684"/>
            <a:ext cx="373075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flagged fields need dashboard counts?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9944" y="5091684"/>
            <a:ext cx="505663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DOB, mobile, email, postal, name, address.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1430">
            <a:solidFill>
              <a:srgbClr val="2E7D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760720"/>
            <a:ext cx="10835640" cy="0"/>
          </a:xfrm>
          <a:prstGeom prst="line">
            <a:avLst/>
          </a:prstGeom>
          <a:noFill/>
          <a:ln w="7620">
            <a:solidFill>
              <a:srgbClr val="D8D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989320"/>
            <a:ext cx="9966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E7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Close: the job is designed to be safe, explainable, and adjustable after SIT profiling.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94360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deck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A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Data Standardisation - Glue/PySpark</dc:title>
  <dc:subject>Standardise / Data Quality stage</dc:subject>
  <dc:creator>OpenAI</dc:creator>
  <cp:lastModifiedBy>OpenAI</cp:lastModifiedBy>
  <cp:revision>1</cp:revision>
  <dcterms:created xsi:type="dcterms:W3CDTF">2026-06-09T04:49:23Z</dcterms:created>
  <dcterms:modified xsi:type="dcterms:W3CDTF">2026-06-09T04:49:23Z</dcterms:modified>
</cp:coreProperties>
</file>